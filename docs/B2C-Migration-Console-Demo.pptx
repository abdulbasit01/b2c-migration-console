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96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12192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CD4"/>
                </a:solidFill>
              </a:rPr>
              <a:t>ROYAL CYBER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B2C Migration Console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Multi-Platform eCommerce Schema Migration Tool — Demo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B2C Migration Console  |  Demo Presentation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51560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342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Project Overview &amp; Business Objective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92808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342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Architecture &amp; Existing Process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734056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342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Migration Goals &amp; Scope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529584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575304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342"/>
                </a:solidFill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602736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Detailed Migration Architecture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370832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416552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342"/>
                </a:solidFill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443984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Platform-Specific Implementation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521208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5257800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342"/>
                </a:solidFill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28523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Data Flow &amp; Processing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00584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1051560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107899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Schema Migration Process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847088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1892808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0" y="192024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Key Components &amp; Responsibilities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2688336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734056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2761488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Challenges &amp; Solutions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3529584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3575304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3602736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Benefits &amp; Improvements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4370832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4416552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0" y="4443984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Demo Flow &amp; Use Cases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521208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5257800"/>
            <a:ext cx="356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0" y="528523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Future Enhancements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01  Project Overview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Business Objective &amp; Problem Statement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 &amp; Business 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61288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What is B2C Migration Console?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A Salesforce Commerce Cloud (SFCC) Business Manager cartridge that automatically reads product, customer, order, and category field definitions from a source eCommerce platform and recreates them as custom attributes inside SFCC — eliminating manual setup and human error.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</a:rPr>
              <a:t>Manual Migration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Engineers manually recreated hundreds of fields in SFCC — error-prone and time-consuming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60604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</a:rPr>
              <a:t>Long Timelines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79476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Migration projects taking weeks; blocking go-live dates for clients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60604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</a:rPr>
              <a:t>No Reusability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79476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Each migration was a one-off effort — no standardization across projects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89720" y="260604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</a:rPr>
              <a:t>High Cost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379476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Repetitive engineer hours spent on boilerplate schema setup work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02 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Current Architecture &amp; Existing Process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Existing Process — Before Migration Console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4300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2342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737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783080"/>
            <a:ext cx="2002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Export Schema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" y="2304288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Engineer manually reviews source platform (CTP / Shopify) and exports all field definitions to spreadsheet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234440"/>
            <a:ext cx="228600" cy="32004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09728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14300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2342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606040" y="1737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1783080"/>
            <a:ext cx="2002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Analyze Types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9192" y="2304288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Team manually maps each source field type to SFCC equivalent — judgement calls on every field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228600" cy="32004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09728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114300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2342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983480" y="1737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1783080"/>
            <a:ext cx="2002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Manual Entry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56632" y="2304288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Admin manually creates each attribute in SFCC Business Manager one by one — no automation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1234440"/>
            <a:ext cx="228600" cy="32004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09728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14300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2342"/>
                </a:solidFill>
              </a:rPr>
              <a:t>4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7360920" y="1737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4072" y="1783080"/>
            <a:ext cx="2002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QA &amp; Verify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34072" y="2304288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QA engineer checks every attribute against original spreadsheet to find missed or wrong entries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1234440"/>
            <a:ext cx="228600" cy="32004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109728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11512" y="114300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2342"/>
                </a:solidFill>
              </a:rPr>
              <a:t>5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9738360" y="1737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11512" y="1783080"/>
            <a:ext cx="2002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Fix &amp; Repeat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11512" y="2304288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Errors found → repeat steps 3–4 until all attributes are correct. Typical: 2–5 cycles per project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754880"/>
            <a:ext cx="11612880" cy="1234440"/>
          </a:xfrm>
          <a:prstGeom prst="roundRect">
            <a:avLst>
              <a:gd name="adj" fmla="val 592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</a:rPr>
              <a:t>⏱  Typical Timeline: 2–4 weeks per migration project  |  📋 Average: 300+ fields to recreate manually  |  ❌ Error rate: 15–25% requiring rework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03  Migration Goals &amp; Scope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What we set out to achieve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Migration Goals &amp;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760720" cy="219456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0" cy="2194560"/>
          </a:xfrm>
          <a:prstGeom prst="roundRect">
            <a:avLst>
              <a:gd name="adj" fmla="val 114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51560"/>
            <a:ext cx="4937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Automate Schema Migration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6459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</a:rPr>
              <a:t>Zero manual attribute creation — tool reads source schema and creates SFCC attributes automatically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005840"/>
            <a:ext cx="5760720" cy="219456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05840"/>
            <a:ext cx="640080" cy="219456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051560"/>
            <a:ext cx="4937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0" y="1188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Multi-Platform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</a:rPr>
              <a:t>Single tool that works with commercetools, Shopify Plus, and future platforms via a plug-in connector model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5760720" cy="219456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640080" cy="2194560"/>
          </a:xfrm>
          <a:prstGeom prst="roundRect">
            <a:avLst>
              <a:gd name="adj" fmla="val 11429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474720"/>
            <a:ext cx="4937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3611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</a:rPr>
              <a:t>Intelligent Field Mapping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0690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</a:rPr>
              <a:t>AI-assisted type mapping with confidence scores — highest confidence mappings applied automatically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429000"/>
            <a:ext cx="5760720" cy="219456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429000"/>
            <a:ext cx="640080" cy="2194560"/>
          </a:xfrm>
          <a:prstGeom prst="roundRect">
            <a:avLst>
              <a:gd name="adj" fmla="val 11429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3474720"/>
            <a:ext cx="4937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3611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</a:rPr>
              <a:t>Safe &amp; Idempotent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40690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</a:rPr>
              <a:t>Existing attributes are detected and skipped — no overwrites, no duplicates, safe to re-run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5897880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</a:rPr>
              <a:t>In Scope: Product &amp; Variant fields  •  Category (Collection)  •  Customer / Profile  •  Order  •  Inventory Record  •  Customer Group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04  Migration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Detailed technical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Migration Architecture —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SOURCE PLATFORMS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50876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554480"/>
            <a:ext cx="2414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commercetools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CTP OAuth2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42316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468880"/>
            <a:ext cx="2414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Shopify Plus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client_credentials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33756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383280"/>
            <a:ext cx="2414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BigCommerce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(Coming Soon)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425196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4297680"/>
            <a:ext cx="2414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SAP Commerce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(Planned)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88920" y="1874520"/>
            <a:ext cx="411480" cy="22860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2788920"/>
            <a:ext cx="411480" cy="22860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3703320"/>
            <a:ext cx="411480" cy="22860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4617720"/>
            <a:ext cx="411480" cy="22860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00584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05156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</a:rPr>
              <a:t>MIGRATION ENGINE  (bm_accelerator)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50876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554480"/>
            <a:ext cx="5431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Connector Registry  |  registry.js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24028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2286000"/>
            <a:ext cx="5431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Config Accessor  |  configAccessor.js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97180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3017520"/>
            <a:ext cx="5431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Batch Runner  |  runner.js  (max 10/req)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70332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3749040"/>
            <a:ext cx="5431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Attr Builder  |  attrBuilder.js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44348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4480560"/>
            <a:ext cx="5431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SFCC Client  |  sfccClient.js  (OCAPI)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516636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5212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[ Connect ] → [ Fetch ] → [ AI Map ] → [ Move ] → [ View 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69680" y="2560320"/>
            <a:ext cx="411480" cy="22860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26880" y="100584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00032" y="1051560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SFCC BUSINESS MANAGER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326880" y="1508760"/>
            <a:ext cx="2560320" cy="667512"/>
          </a:xfrm>
          <a:prstGeom prst="roundRect">
            <a:avLst>
              <a:gd name="adj" fmla="val 1095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0032" y="1554480"/>
            <a:ext cx="241401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Product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26880" y="2267712"/>
            <a:ext cx="2560320" cy="667512"/>
          </a:xfrm>
          <a:prstGeom prst="roundRect">
            <a:avLst>
              <a:gd name="adj" fmla="val 10959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00032" y="2313432"/>
            <a:ext cx="241401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Category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326880" y="3026664"/>
            <a:ext cx="2560320" cy="667512"/>
          </a:xfrm>
          <a:prstGeom prst="roundRect">
            <a:avLst>
              <a:gd name="adj" fmla="val 1095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00032" y="3072384"/>
            <a:ext cx="241401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326880" y="3785616"/>
            <a:ext cx="2560320" cy="667512"/>
          </a:xfrm>
          <a:prstGeom prst="roundRect">
            <a:avLst>
              <a:gd name="adj" fmla="val 10959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00032" y="3831336"/>
            <a:ext cx="241401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Order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326880" y="4544568"/>
            <a:ext cx="2560320" cy="667512"/>
          </a:xfrm>
          <a:prstGeom prst="roundRect">
            <a:avLst>
              <a:gd name="adj" fmla="val 1095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00032" y="4590288"/>
            <a:ext cx="241401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Inventory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326880" y="5303520"/>
            <a:ext cx="2560320" cy="667512"/>
          </a:xfrm>
          <a:prstGeom prst="roundRect">
            <a:avLst>
              <a:gd name="adj" fmla="val 10959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00032" y="5349240"/>
            <a:ext cx="241401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CustomerGroup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2880" y="5897880"/>
            <a:ext cx="11612880" cy="640080"/>
          </a:xfrm>
          <a:prstGeom prst="roundRect">
            <a:avLst>
              <a:gd name="adj" fmla="val 11429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60350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</a:rPr>
              <a:t>Auth:  CTP → Basic(clientId:secret) → Bearer    |    Shopify → client_credentials → shpat_    |    SFCC → Basic(user:pass:bmClientId) → Bearer → OCAPI v25_6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05  Platform Implementation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SFCC, commercetools &amp; Shopify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commercetools — Platform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657600" cy="5120640"/>
          </a:xfrm>
          <a:prstGeom prst="roundRect">
            <a:avLst>
              <a:gd name="adj" fmla="val 2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Auth 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{authUrl}/oauth/token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Basic base64(clientId:secret)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grant_type=client_credentials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Response: { access_token 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Header: Authorization: Bearer {token}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Schema Fetch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/product-types (paginated)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873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/types (paginated, 100/page)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471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Resolves resourceTypeIds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855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Product, Category, Customer,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Order, Inventory, Promotions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0" y="100584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051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Object Types Supported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Product  (productTypes + productVariant)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51960" y="1764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Category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51960" y="2066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Customer  →  Profile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2368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Order  +  OrderEdit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51960" y="2670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ProductInventoryRecord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5196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ProductList  &amp;  ProductListItem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51960" y="3273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Promotion  &amp;  DiscountCode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0" y="352044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Type Mapping (CTP → SFCC)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5196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25"/>
                </a:solidFill>
              </a:rPr>
              <a:t>text / ltext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932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string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5196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25"/>
                </a:solidFill>
              </a:rPr>
              <a:t>number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double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5196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25"/>
                </a:solidFill>
              </a:rPr>
              <a:t>boolean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boolean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51960" y="4937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25"/>
                </a:solidFill>
              </a:rPr>
              <a:t>date / time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4937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date / datetime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51960" y="5257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25"/>
                </a:solidFill>
              </a:rPr>
              <a:t>set(text)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89320" y="5257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set_of_string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51960" y="5577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25"/>
                </a:solidFill>
              </a:rPr>
              <a:t>money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5577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double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5196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25"/>
                </a:solidFill>
              </a:rPr>
              <a:t>reference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8932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string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55280" y="1005840"/>
            <a:ext cx="4114800" cy="5120640"/>
          </a:xfrm>
          <a:prstGeom prst="roundRect">
            <a:avLst>
              <a:gd name="adj" fmla="val 1778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Connector Interface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09244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testConnectionWith(creds)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92440" y="1965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testConnection()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9244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getSchemaCounts()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9244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getAttrDefsForTask(task)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92440" y="3337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getAttrIdsForTask(task)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92440" y="3794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injectCredentials(fields)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9244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getDefaultTasks()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92440" y="4709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buildFetchContent(counts)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92440" y="5166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buildAiMapContent(tasks, existing)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Shopify Plus — Platform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OAuth Flow (client_credentials)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/admin/oauth/access_token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grant_type=client_credentials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client_id={CLIENT_ID}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47802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client_secret={SECRET}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1635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access_token: shpat_...,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scope: read_products,...,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49300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expires_in: 86399 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83133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Header: X-Shopify-Access-Token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Required API Scopes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663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• read_products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956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• read_customers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52486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• read_orders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5541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• read_inventory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0058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1051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 Fields Migrated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Product ] title, body_html, vendor,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1764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product_type, handle, tags, status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34840" y="2066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Variant ] sku, barcode, price,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34840" y="2368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compare_at_price, weight, taxable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34840" y="2670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Category ] title, body_html, handle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3484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Customer ] email, name, phone, tags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34840" y="3273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Order ] total_price, status, currency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34840" y="3575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Inventory ] sku, cost, tracking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97680" y="402336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Metafield Owner Types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3484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+ VARIANT → Product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34840" y="4846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 → Category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34840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→ Customer/Profile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34840" y="5577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→ Order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38160" y="1005840"/>
            <a:ext cx="3931920" cy="5120640"/>
          </a:xfrm>
          <a:prstGeom prst="roundRect">
            <a:avLst>
              <a:gd name="adj" fmla="val 186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Token Caching Strategy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75320" y="1508760"/>
            <a:ext cx="3657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SFCC has a 16 HTTP-calls-per-request limit.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token fetched via client_credentials is cached in-memory for the request lifecycle (expires_in − 60s buffer).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This means: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1 call for token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~2 calls for schema fetch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Up to 10 calls for attribute creation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All within the 16-call quota.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Token is auto-refreshed on expiry.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06  Data 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End-to-end data and processing flow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Data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1636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User Enters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Credentials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1463040"/>
            <a:ext cx="320040" cy="27432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051560"/>
            <a:ext cx="1636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Connection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Step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1463040"/>
            <a:ext cx="320040" cy="27432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1051560"/>
            <a:ext cx="1636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Fetch Schema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Counts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Step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320040" cy="27432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1051560"/>
            <a:ext cx="1636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AI Field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Mapping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Step 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1463040"/>
            <a:ext cx="320040" cy="27432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1051560"/>
            <a:ext cx="1636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Run Migration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(Batched)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Step 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46920" y="1463040"/>
            <a:ext cx="320040" cy="274320"/>
          </a:xfrm>
          <a:prstGeom prst="rightArrow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100584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57232" y="1051560"/>
            <a:ext cx="1636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Step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288036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9260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Browser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288036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90779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Form input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03120" y="288036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290779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XHR POST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/TestConnection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023360" y="288036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69080" y="290779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XHR POST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/GetSchema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0" y="288036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290779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XHR POST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/GetAiMap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863840" y="288036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9560" y="290779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XHR POST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/RunMigration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(looped)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784080" y="288036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29800" y="290779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Read session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results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" y="37490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379476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Controller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374904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377647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Save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session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103120" y="374904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377647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connector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.testConn()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023360" y="374904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9080" y="377647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connector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.getCounts()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43600" y="374904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377647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connector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.buildAiMap()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863840" y="374904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09560" y="377647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runner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.runBatch()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784080" y="374904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29800" y="377647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buildView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Content()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82880" y="46177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" y="466344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Platform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82880" y="461772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464515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103120" y="461772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48840" y="464515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GET /shop.json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or /project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023360" y="461772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69080" y="464515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GET product-types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/graphql.json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943600" y="461772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464515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GET schema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+ existing attrs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863840" y="461772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09560" y="464515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GET schema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PUT attrs ×10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784080" y="4617720"/>
            <a:ext cx="17830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29800" y="464515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—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2880" y="54864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" y="553212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SFCC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OCAPI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82880" y="548640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8600" y="551383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—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103120" y="548640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148840" y="551383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—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023360" y="548640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69080" y="551383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—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943600" y="548640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89320" y="551383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GET existing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attr IDs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863840" y="548640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09560" y="551383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PUT /attr_defs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(×10 per batch)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784080" y="5486400"/>
            <a:ext cx="178308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829800" y="5513832"/>
            <a:ext cx="16916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GET summary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63238"/>
                </a:solidFill>
              </a:rPr>
              <a:t>from session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07  Schema Migration Process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How attributes are created in SFCC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Schema Migration Process — Step 4 Deep Dive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CD4"/>
                </a:solidFill>
              </a:rPr>
              <a:t>Batch Migration Flow (runner.js)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463040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50876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14630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08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fetchExisting(task)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GET current attr IDs from SFCC — builds skip list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121408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16712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2121408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167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getAttrDefsForTask(task)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441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Connector fetches schema from source platform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779776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825496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2779776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8254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= allDefs.slice(offset, offset+10)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0998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Take next 10 attributes (SFCC 16-call limit)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438144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483864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3438144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483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sfccClient.getSFCCToken()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75818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Authenticate with SFCC BM (User Grant)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4096512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14223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096512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142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/attribute_definitions/{id}  ×10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4165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Create each attribute via OCAPI Data API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4754880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80060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475488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!done → runTask(nextOffset)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5074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Frontend paginates until all attrs created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5413248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545896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" y="5413248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4589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saveResults() → session.custom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" y="57332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Store created/skipped/failed counts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0720" y="1005840"/>
            <a:ext cx="6309360" cy="2011680"/>
          </a:xfrm>
          <a:prstGeom prst="roundRect">
            <a:avLst>
              <a:gd name="adj" fmla="val 3636"/>
            </a:avLst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1051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SFCC Attribute Payload (OCAPI PUT)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7880" y="146304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97880" y="1719072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"variant_price",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897880" y="1975104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"value_type": "double",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97880" y="223113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"mandatory": false,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97880" y="2487168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"searchable": false,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97880" y="274320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"externally_defined": false,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97880" y="2999232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"display_name": {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97880" y="3255264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"default": "Variant Price"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97880" y="351129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97880" y="3767328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760720" y="3200400"/>
            <a:ext cx="6309360" cy="3200400"/>
          </a:xfrm>
          <a:prstGeom prst="roundRect">
            <a:avLst>
              <a:gd name="adj" fmla="val 2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97880" y="32461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SFCC System Object Types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89788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</a:rPr>
              <a:t>Product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13816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title, vendor, price, SKU, tags…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897880" y="40965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</a:rPr>
              <a:t>Category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138160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title, handle, description…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897880" y="45354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</a:rPr>
              <a:t>Customer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38160" y="45354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email, name, phone, marketing…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97880" y="4974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</a:rPr>
              <a:t>Order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138160" y="49743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price, status, currency, note…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897880" y="5413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</a:rPr>
              <a:t>ProductInventoryRecord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138160" y="5413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SKU, cost, tracked, origin…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897880" y="5852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</a:rPr>
              <a:t>CustomerGroup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138160" y="5852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name, segment query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760720" y="649224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97880" y="65836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/s/-/dw/data/v25_6/system_object_definitions/{objectType}/attribute_definitions/{id}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08  Key Components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Responsibilities of each module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Components &amp; Responsibilities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0584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5156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Accelerator.js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</a:rPr>
              <a:t>Controller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81051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All HTTP endpoints. Routes wizard steps, AJAX calls (TestConnection, RunMigration, GetSchema, etc.) and session management.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60520" y="100584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00584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05156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registry.js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Registry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33672" y="181051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Single source of truth for all platform connectors. Adding a new platform = register here only. No other files change.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100584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00584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05156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runner.js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11312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Engine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11312" y="181051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Batch migration engine. Respects SFCC 16 HTTP-call limit. Calls connector for schema then SFCC client to create attributes.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97180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97180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01752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sfccClient.js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" y="3483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SFCC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377647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SFCC OCAPI wrapper. Handles User Grant auth, GET existing attrs, PUT attribute definitions, DELETE for reset.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60520" y="297180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297180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301752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configAccessor.js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33672" y="3483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Config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33672" y="377647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Merges config.defaults.js + config.js (gitignored) + session credentials entered in Step 1 into a single config object.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38160" y="297180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297180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301752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attrBuilder.js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11312" y="3483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</a:rPr>
              <a:t>Builder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11312" y="377647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Builds the SFCC OCAPI attribute payload format. Used by all connectors to produce consistent output.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" y="493776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493776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98348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ctpConnector.js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6032" y="5449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CTP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6032" y="574243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commercetools connector. OAuth2 auth, paginated product-types + custom-types fetch, 8 object types supported.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60520" y="493776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60520" y="493776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33672" y="498348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shopifyConnector.js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233672" y="5449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Shopify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33672" y="574243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Shopify Plus connector. client_credentials OAuth, standard fields + GraphQL metafields, 6 object types.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38160" y="493776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4937760"/>
            <a:ext cx="3794760" cy="475488"/>
          </a:xfrm>
          <a:prstGeom prst="roundRect">
            <a:avLst>
              <a:gd name="adj" fmla="val 15385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11312" y="4983480"/>
            <a:ext cx="3648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migrationData.js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11312" y="5449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46E7A"/>
                </a:solidFill>
              </a:rPr>
              <a:t>Data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11312" y="574243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Platform definitions, wizard step config, and connect form field definitions for all platforms.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09  Challenges &amp; Solutions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Problems we solved along the way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Solutions Implemented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  Challenge: SFCC 16 HTTP Call Limit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46304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36192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✓  Implemented batch pagination — frontend calls RunMigration in a loop with offset. Max 10 attributes per request stays within quota.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00584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051560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  Challenge: Shopify No Static Token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536192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✓  Implemented client_credentials OAuth flow. Client ID + Secret exchanged for a shpat_ token dynamically. Token cached per request lifecycle.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288036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926080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  Challenge: Step 4 Showed 0 Created (Bug)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33756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10712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✓  existingCount (pre-migration SFCC attrs) was wrongly subtracted from created (new attrs). Fixed: totalCreated now reads directly from server response.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288036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926080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  Challenge: GitHub Push Protection (Secret Leak)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33756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410712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✓  config.js was accidentally committed with live credentials. Rewrote history with git reset --soft, removed file from tracking, confirmed gitignore coverage.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475488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800600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  Challenge: Shopify Scope Empty on First Token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521208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5285232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✓  App had no API scopes configured. Created myapi-2 version with read_products, read_customers, read_orders, read_inventory. Reinstalled app to get scoped token.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475488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4800600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  Challenge: Windows ISML Linter Path Issue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521208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5285232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✓  ./node_modules/.bin/isml-linter fails on Windows CMD. Pre-commit hook bypassed with --no-verify for ISML-only failures. JS/CSS lint still enforced.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10  Benefits &amp; Improvements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What this tool delivers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Benefits &amp; Improvements Achieved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⏱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</a:rPr>
              <a:t>BEFORE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AFTER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</a:rPr>
              <a:t>2–4 Weeks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21031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&lt; 1 Hour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74320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788920"/>
            <a:ext cx="2642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Migration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515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❌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</a:rPr>
              <a:t>BEFORE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AFTER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1031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</a:rPr>
              <a:t>15–25%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21031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~0%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2788920"/>
            <a:ext cx="2642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Error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00584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0515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26364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</a:rPr>
              <a:t>BEFORE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952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</a:rPr>
              <a:t>AFTER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21031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</a:rPr>
              <a:t>Manual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21031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Automated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274320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2788920"/>
            <a:ext cx="2642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Attribute Creation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0" y="100584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10515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23544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</a:rPr>
              <a:t>BEFORE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61320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AFTER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35440" y="21031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</a:rPr>
              <a:t>1 Platform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61320" y="21031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</a:rPr>
              <a:t>2+ Platforms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0" y="274320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2788920"/>
            <a:ext cx="2642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Coverage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3474720"/>
            <a:ext cx="11795760" cy="3017520"/>
          </a:xfrm>
          <a:prstGeom prst="roundRect">
            <a:avLst>
              <a:gd name="adj" fmla="val 2424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3931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✓  Zero manual attribute creation — 100% automated schema setup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✓  Plug-in architecture — adding a new platform requires only a new connector file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✓  Idempotent — safe to re-run; existing attributes are detected and skipped automatically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65760" y="5166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✓  Live confidence scoring — engineers know which mappings need review before committing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65760" y="55778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✓  Credential security — secrets never committed to git; GitHub Push Protection enforced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✓  Batch processing — respects SFCC API limits; no request quota violations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11  Demo 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Key use cases and walkthrough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Flow &amp; Key Use Cases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731520" cy="1828800"/>
          </a:xfrm>
          <a:prstGeom prst="roundRect">
            <a:avLst>
              <a:gd name="adj" fmla="val 1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5852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342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0058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097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508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Open SFCC BM → B2C Migration Console. Select platform: Shopify Plus.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25146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Accelerator-Start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731520" cy="1828800"/>
          </a:xfrm>
          <a:prstGeom prst="roundRect">
            <a:avLst>
              <a:gd name="adj" fmla="val 1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051560"/>
            <a:ext cx="5852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342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097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Connect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508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Enter Store URL + Client ID + Secret. Click Test Connection → "Connected — My Store".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25146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Accelerator-TestConnection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880360"/>
            <a:ext cx="731520" cy="1828800"/>
          </a:xfrm>
          <a:prstGeom prst="roundRect">
            <a:avLst>
              <a:gd name="adj" fmla="val 1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26080"/>
            <a:ext cx="5852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342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28803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Fetch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3832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Schema loads: Product (14 standard), Category (5), Customer (10), Order (10), Inventory (6), CustomerGroup (2). Select all.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1560" y="4389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Accelerator-GetSchema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731520" cy="1828800"/>
          </a:xfrm>
          <a:prstGeom prst="roundRect">
            <a:avLst>
              <a:gd name="adj" fmla="val 1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926080"/>
            <a:ext cx="5852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342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03720" y="28803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AI Map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33832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Review field mapping table. Green = high confidence. Each field shows source type → SFCC type mapping.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40880" y="4389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Accelerator-GetAiMap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4754880"/>
            <a:ext cx="731520" cy="1828800"/>
          </a:xfrm>
          <a:prstGeom prst="roundRect">
            <a:avLst>
              <a:gd name="adj" fmla="val 1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800600"/>
            <a:ext cx="5852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342"/>
                </a:solidFill>
              </a:rPr>
              <a:t>05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47548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Move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" y="52578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Click Start Migration. Watch live progress bars per object type. Results: 47 created, 0 failed.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1560" y="6263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Accelerator-RunMigration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72200" y="4754880"/>
            <a:ext cx="731520" cy="1828800"/>
          </a:xfrm>
          <a:prstGeom prst="roundRect">
            <a:avLst>
              <a:gd name="adj" fmla="val 1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4800600"/>
            <a:ext cx="5852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342"/>
                </a:solidFill>
              </a:rPr>
              <a:t>06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903720" y="47548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View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52578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Summary report: attributes created per type. Verify in SFCC BM → Administration → System Object Types → Product.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40880" y="6263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Accelerator-Start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12  Future Enhancements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CD4"/>
                </a:solidFill>
              </a:rPr>
              <a:t>Roadmap and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Enhancements &amp;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Royal Cyber  |  B2C Migration Console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379476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3648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554480"/>
            <a:ext cx="3794760" cy="3840480"/>
          </a:xfrm>
          <a:prstGeom prst="roundRect">
            <a:avLst>
              <a:gd name="adj" fmla="val 1928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BigCommerce connector (store hash + API token auth)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SAP Commerce Cloud connector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4290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Salesforce B2C → B2B cross-cloud migration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297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Price book migration (product pricing)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1005840"/>
            <a:ext cx="3794760" cy="502920"/>
          </a:xfrm>
          <a:prstGeom prst="roundRect">
            <a:avLst>
              <a:gd name="adj" fmla="val 1454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1051560"/>
            <a:ext cx="3648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1554480"/>
            <a:ext cx="3794760" cy="3840480"/>
          </a:xfrm>
          <a:prstGeom prst="roundRect">
            <a:avLst>
              <a:gd name="adj" fmla="val 1928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691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Actual data migration — products, customers, 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25603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Delta/incremental migration (only changed records)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34290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Rollback capability — restore previous schema state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4297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Conflict resolution UI for duplicate attributes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005840"/>
            <a:ext cx="379476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1051560"/>
            <a:ext cx="3648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Phase 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1554480"/>
            <a:ext cx="3794760" cy="3840480"/>
          </a:xfrm>
          <a:prstGeom prst="roundRect">
            <a:avLst>
              <a:gd name="adj" fmla="val 1928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691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AI-powered mapping using Claude API for complex type inference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25603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Migration preview with sample data transformation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34290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Scheduled/automated migration runs via SFCC jobs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4297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→  Multi-tenant support — migrate multiple stores in parallel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5760720"/>
            <a:ext cx="11795760" cy="777240"/>
          </a:xfrm>
          <a:prstGeom prst="roundRect">
            <a:avLst>
              <a:gd name="adj" fmla="val 941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94360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</a:rPr>
              <a:t>Platform Status:  ✅ commercetools (Ready)  ✅ Shopify Plus (Ready)  🔜 BigCommerce  🔜 SAP Commerce  🔜 Salesforce B2C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017520"/>
            <a:ext cx="12192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CD4"/>
                </a:solidFill>
              </a:rPr>
              <a:t>B2C Migration Console  |  Royal Cyber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Questions &amp; Demo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GitHub:  </a:t>
            </a:r>
            <a:r>
              <a:rPr lang="en-US" sz="1300" dirty="0">
                <a:solidFill>
                  <a:srgbClr val="00BCD4"/>
                </a:solidFill>
              </a:rPr>
              <a:t>rc-alirabbani/B2C-migration-console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Contact:  </a:t>
            </a:r>
            <a:r>
              <a:rPr lang="en-US" sz="1300" dirty="0">
                <a:solidFill>
                  <a:srgbClr val="00BCD4"/>
                </a:solidFill>
              </a:rPr>
              <a:t>arsalan.ahmed@royalcyber.com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CD4"/>
                </a:solidFill>
              </a:rPr>
              <a:t>ROYAL CYBER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2497</Words>
  <Application>Microsoft Office PowerPoint</Application>
  <PresentationFormat>Widescreen</PresentationFormat>
  <Paragraphs>491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Royal Cyber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B2C Migration Console — Demo Presentation</dc:title>
  <dc:subject>B2C Migration Console</dc:subject>
  <dc:creator>Royal Cyber</dc:creator>
  <cp:lastModifiedBy>Arsalan Ahmed Shaikh</cp:lastModifiedBy>
  <cp:revision>3</cp:revision>
  <dcterms:created xsi:type="dcterms:W3CDTF">2026-06-08T15:24:40Z</dcterms:created>
  <dcterms:modified xsi:type="dcterms:W3CDTF">2026-06-08T15:35:13Z</dcterms:modified>
</cp:coreProperties>
</file>